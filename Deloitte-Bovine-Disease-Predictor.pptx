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1" r:id="rId1"/>
  </p:sldMasterIdLst>
  <p:notesMasterIdLst>
    <p:notesMasterId r:id="rId14"/>
  </p:notesMasterIdLst>
  <p:sldIdLst>
    <p:sldId id="26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65" r:id="rId13"/>
  </p:sldIdLst>
  <p:sldSz cx="14630400" cy="8229600"/>
  <p:notesSz cx="8229600" cy="14630400"/>
  <p:embeddedFontLst>
    <p:embeddedFont>
      <p:font typeface="Trebuchet MS" panose="020B0703020202090204" pitchFamily="34" charset="0"/>
      <p:regular r:id="rId15"/>
      <p:bold r:id="rId16"/>
      <p:italic r:id="rId17"/>
    </p:embeddedFont>
    <p:embeddedFont>
      <p:font typeface="Wingdings 3" pitchFamily="2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45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0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0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02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089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177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256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809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920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774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239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460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447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54050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0007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27590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447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733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7127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614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6920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134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85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521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3512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623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434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3196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84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31B9C-2D5E-1747-B72A-1BDB536AAC4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7748E73F-D679-694C-AAB7-3FAD838A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DA0FE8-6965-EE7E-20E9-ED874D54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59" y="555320"/>
            <a:ext cx="1084559" cy="1231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7F97D-27C3-8C57-1E1D-F41E5B158BC7}"/>
              </a:ext>
            </a:extLst>
          </p:cNvPr>
          <p:cNvSpPr txBox="1"/>
          <p:nvPr/>
        </p:nvSpPr>
        <p:spPr>
          <a:xfrm>
            <a:off x="1114817" y="3093929"/>
            <a:ext cx="85892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BOVINE DISEASE SPREAD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(Deloitte)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75BE390-0082-BBE6-3BBE-620AB842FC70}"/>
              </a:ext>
            </a:extLst>
          </p:cNvPr>
          <p:cNvSpPr/>
          <p:nvPr/>
        </p:nvSpPr>
        <p:spPr>
          <a:xfrm>
            <a:off x="7816242" y="6483479"/>
            <a:ext cx="3081402" cy="14070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ANALYTATHON 2: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UTKARSH AWASTHI</a:t>
            </a:r>
          </a:p>
          <a:p>
            <a:pPr algn="ctr"/>
            <a:r>
              <a:rPr lang="en-US" dirty="0"/>
              <a:t>40490288</a:t>
            </a: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32FEBCA5-2477-10C9-EA53-B59FD51F618F}"/>
              </a:ext>
            </a:extLst>
          </p:cNvPr>
          <p:cNvSpPr/>
          <p:nvPr/>
        </p:nvSpPr>
        <p:spPr>
          <a:xfrm>
            <a:off x="1159259" y="7031195"/>
            <a:ext cx="581859" cy="547452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194037" y="0"/>
                </a:moveTo>
                <a:lnTo>
                  <a:pt x="194037" y="0"/>
                </a:lnTo>
                <a:cubicBezTo>
                  <a:pt x="301129" y="0"/>
                  <a:pt x="388074" y="86945"/>
                  <a:pt x="388074" y="194037"/>
                </a:cubicBezTo>
                <a:lnTo>
                  <a:pt x="388074" y="194037"/>
                </a:lnTo>
                <a:cubicBezTo>
                  <a:pt x="388074" y="301129"/>
                  <a:pt x="301129" y="388074"/>
                  <a:pt x="194037" y="388074"/>
                </a:cubicBezTo>
                <a:lnTo>
                  <a:pt x="194037" y="388074"/>
                </a:lnTo>
                <a:cubicBezTo>
                  <a:pt x="86945" y="388074"/>
                  <a:pt x="0" y="301129"/>
                  <a:pt x="0" y="194037"/>
                </a:cubicBezTo>
                <a:lnTo>
                  <a:pt x="0" y="194037"/>
                </a:lnTo>
                <a:cubicBezTo>
                  <a:pt x="0" y="86945"/>
                  <a:pt x="86945" y="0"/>
                  <a:pt x="194037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D23622DB-8A6C-7172-4C3A-2511677582A5}"/>
              </a:ext>
            </a:extLst>
          </p:cNvPr>
          <p:cNvSpPr/>
          <p:nvPr/>
        </p:nvSpPr>
        <p:spPr>
          <a:xfrm>
            <a:off x="1253251" y="7120254"/>
            <a:ext cx="393874" cy="369333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41485" y="80849"/>
                </a:moveTo>
                <a:cubicBezTo>
                  <a:pt x="141485" y="47383"/>
                  <a:pt x="114315" y="20212"/>
                  <a:pt x="80849" y="20212"/>
                </a:cubicBezTo>
                <a:cubicBezTo>
                  <a:pt x="47383" y="20212"/>
                  <a:pt x="20212" y="47383"/>
                  <a:pt x="20212" y="80849"/>
                </a:cubicBezTo>
                <a:cubicBezTo>
                  <a:pt x="20212" y="114315"/>
                  <a:pt x="47383" y="141485"/>
                  <a:pt x="80849" y="141485"/>
                </a:cubicBezTo>
                <a:cubicBezTo>
                  <a:pt x="114315" y="141485"/>
                  <a:pt x="141485" y="114315"/>
                  <a:pt x="141485" y="80849"/>
                </a:cubicBezTo>
                <a:close/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80849" y="106114"/>
                </a:moveTo>
                <a:cubicBezTo>
                  <a:pt x="94793" y="106114"/>
                  <a:pt x="106114" y="94793"/>
                  <a:pt x="106114" y="80849"/>
                </a:cubicBezTo>
                <a:cubicBezTo>
                  <a:pt x="106114" y="66905"/>
                  <a:pt x="94793" y="55584"/>
                  <a:pt x="80849" y="55584"/>
                </a:cubicBezTo>
                <a:cubicBezTo>
                  <a:pt x="66905" y="55584"/>
                  <a:pt x="55584" y="66905"/>
                  <a:pt x="55584" y="80849"/>
                </a:cubicBezTo>
                <a:cubicBezTo>
                  <a:pt x="55584" y="94793"/>
                  <a:pt x="66905" y="106114"/>
                  <a:pt x="80849" y="106114"/>
                </a:cubicBezTo>
                <a:close/>
                <a:moveTo>
                  <a:pt x="80849" y="35371"/>
                </a:moveTo>
                <a:cubicBezTo>
                  <a:pt x="105948" y="35371"/>
                  <a:pt x="126326" y="55749"/>
                  <a:pt x="126326" y="80849"/>
                </a:cubicBezTo>
                <a:cubicBezTo>
                  <a:pt x="126326" y="105948"/>
                  <a:pt x="105948" y="126326"/>
                  <a:pt x="80849" y="126326"/>
                </a:cubicBezTo>
                <a:cubicBezTo>
                  <a:pt x="55749" y="126326"/>
                  <a:pt x="35371" y="105948"/>
                  <a:pt x="35371" y="80849"/>
                </a:cubicBezTo>
                <a:cubicBezTo>
                  <a:pt x="35371" y="55749"/>
                  <a:pt x="55749" y="35371"/>
                  <a:pt x="80849" y="35371"/>
                </a:cubicBezTo>
                <a:close/>
                <a:moveTo>
                  <a:pt x="70743" y="80849"/>
                </a:moveTo>
                <a:cubicBezTo>
                  <a:pt x="70743" y="75271"/>
                  <a:pt x="75271" y="70743"/>
                  <a:pt x="80849" y="70743"/>
                </a:cubicBezTo>
                <a:cubicBezTo>
                  <a:pt x="86427" y="70743"/>
                  <a:pt x="90955" y="75271"/>
                  <a:pt x="90955" y="80849"/>
                </a:cubicBezTo>
                <a:cubicBezTo>
                  <a:pt x="90955" y="86427"/>
                  <a:pt x="86427" y="90955"/>
                  <a:pt x="80849" y="90955"/>
                </a:cubicBezTo>
                <a:cubicBezTo>
                  <a:pt x="75271" y="90955"/>
                  <a:pt x="70743" y="86427"/>
                  <a:pt x="70743" y="8084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2BE57E-41A3-5F63-6BD5-235C10A95C2A}"/>
              </a:ext>
            </a:extLst>
          </p:cNvPr>
          <p:cNvSpPr txBox="1"/>
          <p:nvPr/>
        </p:nvSpPr>
        <p:spPr>
          <a:xfrm>
            <a:off x="1833483" y="7049191"/>
            <a:ext cx="816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Recall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40628B-452C-2CE3-BE7B-578D04721507}"/>
              </a:ext>
            </a:extLst>
          </p:cNvPr>
          <p:cNvSpPr txBox="1"/>
          <p:nvPr/>
        </p:nvSpPr>
        <p:spPr>
          <a:xfrm>
            <a:off x="1833483" y="7270870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96%</a:t>
            </a:r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3A6C7D30-CA37-AB04-E7FF-67DC74C89F0D}"/>
              </a:ext>
            </a:extLst>
          </p:cNvPr>
          <p:cNvSpPr/>
          <p:nvPr/>
        </p:nvSpPr>
        <p:spPr>
          <a:xfrm>
            <a:off x="2839385" y="7083578"/>
            <a:ext cx="481221" cy="485223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194037" y="0"/>
                </a:moveTo>
                <a:lnTo>
                  <a:pt x="194037" y="0"/>
                </a:lnTo>
                <a:cubicBezTo>
                  <a:pt x="301129" y="0"/>
                  <a:pt x="388074" y="86945"/>
                  <a:pt x="388074" y="194037"/>
                </a:cubicBezTo>
                <a:lnTo>
                  <a:pt x="388074" y="194037"/>
                </a:lnTo>
                <a:cubicBezTo>
                  <a:pt x="388074" y="301129"/>
                  <a:pt x="301129" y="388074"/>
                  <a:pt x="194037" y="388074"/>
                </a:cubicBezTo>
                <a:lnTo>
                  <a:pt x="194037" y="388074"/>
                </a:lnTo>
                <a:cubicBezTo>
                  <a:pt x="86945" y="388074"/>
                  <a:pt x="0" y="301129"/>
                  <a:pt x="0" y="194037"/>
                </a:cubicBezTo>
                <a:lnTo>
                  <a:pt x="0" y="194037"/>
                </a:lnTo>
                <a:cubicBezTo>
                  <a:pt x="0" y="86945"/>
                  <a:pt x="86945" y="0"/>
                  <a:pt x="194037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E7546C14-F265-813B-935F-E04B98A7C4D5}"/>
              </a:ext>
            </a:extLst>
          </p:cNvPr>
          <p:cNvSpPr/>
          <p:nvPr/>
        </p:nvSpPr>
        <p:spPr>
          <a:xfrm flipH="1">
            <a:off x="2932532" y="7186984"/>
            <a:ext cx="335027" cy="278412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30318"/>
                </a:moveTo>
                <a:lnTo>
                  <a:pt x="40424" y="25265"/>
                </a:lnTo>
                <a:cubicBezTo>
                  <a:pt x="40424" y="11306"/>
                  <a:pt x="67585" y="0"/>
                  <a:pt x="101061" y="0"/>
                </a:cubicBezTo>
                <a:cubicBezTo>
                  <a:pt x="134537" y="0"/>
                  <a:pt x="161698" y="11306"/>
                  <a:pt x="161698" y="25265"/>
                </a:cubicBezTo>
                <a:lnTo>
                  <a:pt x="161698" y="30318"/>
                </a:lnTo>
                <a:cubicBezTo>
                  <a:pt x="161698" y="39982"/>
                  <a:pt x="148654" y="48383"/>
                  <a:pt x="129484" y="52646"/>
                </a:cubicBezTo>
                <a:cubicBezTo>
                  <a:pt x="128726" y="51762"/>
                  <a:pt x="127937" y="50909"/>
                  <a:pt x="127147" y="50120"/>
                </a:cubicBezTo>
                <a:cubicBezTo>
                  <a:pt x="122252" y="45288"/>
                  <a:pt x="115936" y="41625"/>
                  <a:pt x="109335" y="38908"/>
                </a:cubicBezTo>
                <a:cubicBezTo>
                  <a:pt x="96103" y="33382"/>
                  <a:pt x="78859" y="30350"/>
                  <a:pt x="60637" y="30350"/>
                </a:cubicBezTo>
                <a:cubicBezTo>
                  <a:pt x="53720" y="30350"/>
                  <a:pt x="46962" y="30792"/>
                  <a:pt x="40488" y="31645"/>
                </a:cubicBezTo>
                <a:cubicBezTo>
                  <a:pt x="40424" y="31234"/>
                  <a:pt x="40424" y="30792"/>
                  <a:pt x="40424" y="30350"/>
                </a:cubicBezTo>
                <a:close/>
                <a:moveTo>
                  <a:pt x="136432" y="111483"/>
                </a:moveTo>
                <a:lnTo>
                  <a:pt x="136432" y="96892"/>
                </a:lnTo>
                <a:cubicBezTo>
                  <a:pt x="141201" y="95661"/>
                  <a:pt x="145686" y="94208"/>
                  <a:pt x="149760" y="92502"/>
                </a:cubicBezTo>
                <a:cubicBezTo>
                  <a:pt x="153929" y="90765"/>
                  <a:pt x="158003" y="88649"/>
                  <a:pt x="161698" y="86091"/>
                </a:cubicBezTo>
                <a:lnTo>
                  <a:pt x="161698" y="90955"/>
                </a:lnTo>
                <a:cubicBezTo>
                  <a:pt x="161698" y="99419"/>
                  <a:pt x="151749" y="106904"/>
                  <a:pt x="136432" y="111483"/>
                </a:cubicBezTo>
                <a:close/>
                <a:moveTo>
                  <a:pt x="136432" y="81165"/>
                </a:moveTo>
                <a:lnTo>
                  <a:pt x="136432" y="70743"/>
                </a:lnTo>
                <a:cubicBezTo>
                  <a:pt x="136432" y="69322"/>
                  <a:pt x="136306" y="67964"/>
                  <a:pt x="136117" y="66637"/>
                </a:cubicBezTo>
                <a:cubicBezTo>
                  <a:pt x="141012" y="65405"/>
                  <a:pt x="145591" y="63921"/>
                  <a:pt x="149760" y="62153"/>
                </a:cubicBezTo>
                <a:cubicBezTo>
                  <a:pt x="153929" y="60384"/>
                  <a:pt x="158003" y="58300"/>
                  <a:pt x="161698" y="55741"/>
                </a:cubicBezTo>
                <a:lnTo>
                  <a:pt x="161698" y="60605"/>
                </a:lnTo>
                <a:cubicBezTo>
                  <a:pt x="161698" y="69069"/>
                  <a:pt x="151749" y="76554"/>
                  <a:pt x="136432" y="81133"/>
                </a:cubicBezTo>
                <a:close/>
                <a:moveTo>
                  <a:pt x="0" y="75796"/>
                </a:moveTo>
                <a:lnTo>
                  <a:pt x="0" y="70743"/>
                </a:lnTo>
                <a:cubicBezTo>
                  <a:pt x="0" y="56784"/>
                  <a:pt x="27160" y="45477"/>
                  <a:pt x="60637" y="45477"/>
                </a:cubicBezTo>
                <a:cubicBezTo>
                  <a:pt x="94113" y="45477"/>
                  <a:pt x="121273" y="56784"/>
                  <a:pt x="121273" y="70743"/>
                </a:cubicBezTo>
                <a:lnTo>
                  <a:pt x="121273" y="75796"/>
                </a:lnTo>
                <a:cubicBezTo>
                  <a:pt x="121273" y="89755"/>
                  <a:pt x="94113" y="101061"/>
                  <a:pt x="60637" y="101061"/>
                </a:cubicBezTo>
                <a:cubicBezTo>
                  <a:pt x="27160" y="101061"/>
                  <a:pt x="0" y="89755"/>
                  <a:pt x="0" y="75796"/>
                </a:cubicBezTo>
                <a:close/>
                <a:moveTo>
                  <a:pt x="121273" y="106114"/>
                </a:moveTo>
                <a:cubicBezTo>
                  <a:pt x="121273" y="120073"/>
                  <a:pt x="94113" y="131379"/>
                  <a:pt x="60637" y="131379"/>
                </a:cubicBezTo>
                <a:cubicBezTo>
                  <a:pt x="27160" y="131379"/>
                  <a:pt x="0" y="120073"/>
                  <a:pt x="0" y="106114"/>
                </a:cubicBezTo>
                <a:lnTo>
                  <a:pt x="0" y="101250"/>
                </a:lnTo>
                <a:cubicBezTo>
                  <a:pt x="3663" y="103809"/>
                  <a:pt x="7737" y="105893"/>
                  <a:pt x="11938" y="107662"/>
                </a:cubicBezTo>
                <a:cubicBezTo>
                  <a:pt x="25171" y="113188"/>
                  <a:pt x="42414" y="116220"/>
                  <a:pt x="60637" y="116220"/>
                </a:cubicBezTo>
                <a:cubicBezTo>
                  <a:pt x="78859" y="116220"/>
                  <a:pt x="96103" y="113157"/>
                  <a:pt x="109335" y="107662"/>
                </a:cubicBezTo>
                <a:cubicBezTo>
                  <a:pt x="113504" y="105925"/>
                  <a:pt x="117578" y="103809"/>
                  <a:pt x="121273" y="101250"/>
                </a:cubicBezTo>
                <a:lnTo>
                  <a:pt x="121273" y="106114"/>
                </a:lnTo>
                <a:close/>
                <a:moveTo>
                  <a:pt x="121273" y="131569"/>
                </a:moveTo>
                <a:lnTo>
                  <a:pt x="121273" y="136432"/>
                </a:lnTo>
                <a:cubicBezTo>
                  <a:pt x="121273" y="150391"/>
                  <a:pt x="94113" y="161698"/>
                  <a:pt x="60637" y="161698"/>
                </a:cubicBezTo>
                <a:cubicBezTo>
                  <a:pt x="27160" y="161698"/>
                  <a:pt x="0" y="150391"/>
                  <a:pt x="0" y="136432"/>
                </a:cubicBezTo>
                <a:lnTo>
                  <a:pt x="0" y="131569"/>
                </a:lnTo>
                <a:cubicBezTo>
                  <a:pt x="3663" y="134127"/>
                  <a:pt x="7737" y="136211"/>
                  <a:pt x="11938" y="137980"/>
                </a:cubicBezTo>
                <a:cubicBezTo>
                  <a:pt x="25171" y="143507"/>
                  <a:pt x="42414" y="146538"/>
                  <a:pt x="60637" y="146538"/>
                </a:cubicBezTo>
                <a:cubicBezTo>
                  <a:pt x="78859" y="146538"/>
                  <a:pt x="96103" y="143475"/>
                  <a:pt x="109335" y="137980"/>
                </a:cubicBezTo>
                <a:cubicBezTo>
                  <a:pt x="113504" y="136243"/>
                  <a:pt x="117578" y="134127"/>
                  <a:pt x="121273" y="1315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A8DA44-2B30-DE35-285E-DC12C09E035A}"/>
              </a:ext>
            </a:extLst>
          </p:cNvPr>
          <p:cNvSpPr txBox="1"/>
          <p:nvPr/>
        </p:nvSpPr>
        <p:spPr>
          <a:xfrm>
            <a:off x="3320606" y="7074150"/>
            <a:ext cx="1276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ROC-AUC Score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0BF938-3009-FD1C-239A-C30617C10F9F}"/>
              </a:ext>
            </a:extLst>
          </p:cNvPr>
          <p:cNvSpPr txBox="1"/>
          <p:nvPr/>
        </p:nvSpPr>
        <p:spPr>
          <a:xfrm>
            <a:off x="3320606" y="7301648"/>
            <a:ext cx="628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0.836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A69587-9F9E-99DC-FC83-DB6BF4C304A4}"/>
              </a:ext>
            </a:extLst>
          </p:cNvPr>
          <p:cNvSpPr txBox="1"/>
          <p:nvPr/>
        </p:nvSpPr>
        <p:spPr>
          <a:xfrm>
            <a:off x="-1675356" y="4515937"/>
            <a:ext cx="732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Bovine TB Prediction Using Machine Learning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7189DB2D-314A-21E0-01E4-54478BC2D2C2}"/>
              </a:ext>
            </a:extLst>
          </p:cNvPr>
          <p:cNvSpPr/>
          <p:nvPr/>
        </p:nvSpPr>
        <p:spPr>
          <a:xfrm>
            <a:off x="4467243" y="7093424"/>
            <a:ext cx="481221" cy="485223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194037" y="0"/>
                </a:moveTo>
                <a:lnTo>
                  <a:pt x="194037" y="0"/>
                </a:lnTo>
                <a:cubicBezTo>
                  <a:pt x="301129" y="0"/>
                  <a:pt x="388074" y="86945"/>
                  <a:pt x="388074" y="194037"/>
                </a:cubicBezTo>
                <a:lnTo>
                  <a:pt x="388074" y="194037"/>
                </a:lnTo>
                <a:cubicBezTo>
                  <a:pt x="388074" y="301129"/>
                  <a:pt x="301129" y="388074"/>
                  <a:pt x="194037" y="388074"/>
                </a:cubicBezTo>
                <a:lnTo>
                  <a:pt x="194037" y="388074"/>
                </a:lnTo>
                <a:cubicBezTo>
                  <a:pt x="86945" y="388074"/>
                  <a:pt x="0" y="301129"/>
                  <a:pt x="0" y="194037"/>
                </a:cubicBezTo>
                <a:lnTo>
                  <a:pt x="0" y="194037"/>
                </a:lnTo>
                <a:cubicBezTo>
                  <a:pt x="0" y="86945"/>
                  <a:pt x="86945" y="0"/>
                  <a:pt x="194037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66A37A-834C-A7CD-EC2C-6F2B998CEF57}"/>
              </a:ext>
            </a:extLst>
          </p:cNvPr>
          <p:cNvSpPr txBox="1"/>
          <p:nvPr/>
        </p:nvSpPr>
        <p:spPr>
          <a:xfrm>
            <a:off x="4962905" y="7048572"/>
            <a:ext cx="805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Accuracy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59BDE0-8786-2226-7505-3D6080B66E6B}"/>
              </a:ext>
            </a:extLst>
          </p:cNvPr>
          <p:cNvSpPr txBox="1"/>
          <p:nvPr/>
        </p:nvSpPr>
        <p:spPr>
          <a:xfrm>
            <a:off x="5008261" y="7311507"/>
            <a:ext cx="1041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91.3%</a:t>
            </a:r>
          </a:p>
        </p:txBody>
      </p:sp>
      <p:pic>
        <p:nvPicPr>
          <p:cNvPr id="71" name="Graphic 70" descr="Badge Tick outline">
            <a:extLst>
              <a:ext uri="{FF2B5EF4-FFF2-40B4-BE49-F238E27FC236}">
                <a16:creationId xmlns:a16="http://schemas.microsoft.com/office/drawing/2014/main" id="{3CD94C5F-4A91-137C-F306-C6B0CF559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264" y="711160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2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B6506F-9164-6BA3-762A-366081D9751C}"/>
              </a:ext>
            </a:extLst>
          </p:cNvPr>
          <p:cNvSpPr txBox="1"/>
          <p:nvPr/>
        </p:nvSpPr>
        <p:spPr>
          <a:xfrm>
            <a:off x="651353" y="764088"/>
            <a:ext cx="5820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 &amp; Feature Categories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4DD21-3D4D-ED48-B0D6-D929BDD0942E}"/>
              </a:ext>
            </a:extLst>
          </p:cNvPr>
          <p:cNvSpPr txBox="1"/>
          <p:nvPr/>
        </p:nvSpPr>
        <p:spPr>
          <a:xfrm>
            <a:off x="651353" y="1389136"/>
            <a:ext cx="652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rows × 27 columns · No missing values in analytical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683B7-8B08-B9F4-482D-6A3E39F4AEDE}"/>
              </a:ext>
            </a:extLst>
          </p:cNvPr>
          <p:cNvSpPr txBox="1"/>
          <p:nvPr/>
        </p:nvSpPr>
        <p:spPr>
          <a:xfrm>
            <a:off x="7653404" y="2643332"/>
            <a:ext cx="3281819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 columns have missing values: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Subscribed_To_Newsletter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21.2% missing (2,120 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Farm_Phone_Number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14.2% missing (1,420 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Farm_Street_Address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13.0% missing (1,300 rows)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24 analytical/modelling features are 100% complete.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543F41-F197-2595-2714-35B8BB37C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731033"/>
              </p:ext>
            </p:extLst>
          </p:nvPr>
        </p:nvGraphicFramePr>
        <p:xfrm>
          <a:off x="740078" y="2583652"/>
          <a:ext cx="6725434" cy="35356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{69012ECD-51FC-41F1-AA8D-1B2483CD663E}</a:tableStyleId>
              </a:tblPr>
              <a:tblGrid>
                <a:gridCol w="3362717">
                  <a:extLst>
                    <a:ext uri="{9D8B030D-6E8A-4147-A177-3AD203B41FA5}">
                      <a16:colId xmlns:a16="http://schemas.microsoft.com/office/drawing/2014/main" val="3275875275"/>
                    </a:ext>
                  </a:extLst>
                </a:gridCol>
                <a:gridCol w="3362717">
                  <a:extLst>
                    <a:ext uri="{9D8B030D-6E8A-4147-A177-3AD203B41FA5}">
                      <a16:colId xmlns:a16="http://schemas.microsoft.com/office/drawing/2014/main" val="3931321168"/>
                    </a:ext>
                  </a:extLst>
                </a:gridCol>
              </a:tblGrid>
              <a:tr h="1857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786980849"/>
                  </a:ext>
                </a:extLst>
              </a:tr>
              <a:tr h="545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 test records, 1,000 farms, 9,771 unique animals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692663486"/>
                  </a:ext>
                </a:extLst>
              </a:tr>
              <a:tr h="383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raw + 8 engineered = 35 total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87751301"/>
                  </a:ext>
                </a:extLst>
              </a:tr>
              <a:tr h="325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Range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January 2020 – December 2022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267083674"/>
                  </a:ext>
                </a:extLst>
              </a:tr>
              <a:tr h="383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Variable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Test_Result (Positive / Negative)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684205984"/>
                  </a:ext>
                </a:extLst>
              </a:tr>
              <a:tr h="325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89.2% Negative / 10.8% Positive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02716450"/>
                  </a:ext>
                </a:extLst>
              </a:tr>
              <a:tr h="491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Model AUC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0.836 (</a:t>
                      </a: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5-fold Stratified CV)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5793340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170E1F-936F-C764-6677-F7EECBED6D64}"/>
              </a:ext>
            </a:extLst>
          </p:cNvPr>
          <p:cNvCxnSpPr/>
          <p:nvPr/>
        </p:nvCxnSpPr>
        <p:spPr>
          <a:xfrm>
            <a:off x="740078" y="1947333"/>
            <a:ext cx="8793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4574B3-6C59-2E3E-59CC-5A044BF910A1}"/>
              </a:ext>
            </a:extLst>
          </p:cNvPr>
          <p:cNvCxnSpPr/>
          <p:nvPr/>
        </p:nvCxnSpPr>
        <p:spPr>
          <a:xfrm>
            <a:off x="740078" y="1287308"/>
            <a:ext cx="8793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93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9">
            <a:extLst>
              <a:ext uri="{FF2B5EF4-FFF2-40B4-BE49-F238E27FC236}">
                <a16:creationId xmlns:a16="http://schemas.microsoft.com/office/drawing/2014/main" id="{2695D95D-3611-9763-29E6-637701E841D3}"/>
              </a:ext>
            </a:extLst>
          </p:cNvPr>
          <p:cNvSpPr/>
          <p:nvPr/>
        </p:nvSpPr>
        <p:spPr>
          <a:xfrm>
            <a:off x="837725" y="6548795"/>
            <a:ext cx="7254090" cy="578515"/>
          </a:xfrm>
          <a:prstGeom prst="roundRect">
            <a:avLst>
              <a:gd name="adj" fmla="val 3530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837724" y="941308"/>
            <a:ext cx="1991678" cy="393502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3335" y="1004054"/>
            <a:ext cx="174045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01 | PROBLEM FRAMING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1418511"/>
            <a:ext cx="666750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The Challenge of Rare Events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7724" y="2348508"/>
            <a:ext cx="129549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Disease events create disproportionate operational disruption: animal loss, testing costs, movement controls, labour strain, and reputational exposure. Yet from a modelling perspective, they are uncommon observations hidden inside a much larger volume of routine healthy records. That mismatch is the central analytical challenge.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7724" y="3589258"/>
            <a:ext cx="4178618" cy="2573417"/>
          </a:xfrm>
          <a:prstGeom prst="roundRect">
            <a:avLst>
              <a:gd name="adj" fmla="val 426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4864" y="3589258"/>
            <a:ext cx="91440" cy="2573417"/>
          </a:xfrm>
          <a:prstGeom prst="roundRect">
            <a:avLst>
              <a:gd name="adj" fmla="val 343600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8595" y="3821549"/>
            <a:ext cx="251471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Problem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8595" y="4255175"/>
            <a:ext cx="3645456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Disease outbreaks devastate farm operations but are statistically rare, making them difficult to predict proactively with naïve modelling approaches.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25772" y="3589258"/>
            <a:ext cx="4178737" cy="2573417"/>
          </a:xfrm>
          <a:prstGeom prst="roundRect">
            <a:avLst>
              <a:gd name="adj" fmla="val 426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02912" y="3589258"/>
            <a:ext cx="91440" cy="2573417"/>
          </a:xfrm>
          <a:prstGeom prst="roundRect">
            <a:avLst>
              <a:gd name="adj" fmla="val 343600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26643" y="382154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The Data Profile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26643" y="4255175"/>
            <a:ext cx="364557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Historical farm test data shows severe class imbalance (synthetic data): only approximately 10.8% of tests are positive, so the minority class carries the highest operational importance.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13940" y="3589258"/>
            <a:ext cx="4178737" cy="2573417"/>
          </a:xfrm>
          <a:prstGeom prst="roundRect">
            <a:avLst>
              <a:gd name="adj" fmla="val 426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91080" y="3589258"/>
            <a:ext cx="91440" cy="2573417"/>
          </a:xfrm>
          <a:prstGeom prst="roundRect">
            <a:avLst>
              <a:gd name="adj" fmla="val 3436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14811" y="382154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Why Accuracy Fails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14811" y="4255175"/>
            <a:ext cx="364557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 model predicting “healthy” every time would still appear 89% accurate. For field operations, that would be unacceptable because it misses the very farms we need to intervene 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95" y="6722804"/>
            <a:ext cx="261818" cy="20943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18404" y="6659999"/>
            <a:ext cx="1206484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Operational objective: optimise for outbreak capture, not headline accuracy.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C3DC94-B10F-59EB-0D54-77B37D445EEA}"/>
              </a:ext>
            </a:extLst>
          </p:cNvPr>
          <p:cNvCxnSpPr/>
          <p:nvPr/>
        </p:nvCxnSpPr>
        <p:spPr>
          <a:xfrm>
            <a:off x="814864" y="2034421"/>
            <a:ext cx="6747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9">
            <a:extLst>
              <a:ext uri="{FF2B5EF4-FFF2-40B4-BE49-F238E27FC236}">
                <a16:creationId xmlns:a16="http://schemas.microsoft.com/office/drawing/2014/main" id="{B9B66135-DCB7-9B09-23D9-40A8D87831D7}"/>
              </a:ext>
            </a:extLst>
          </p:cNvPr>
          <p:cNvSpPr/>
          <p:nvPr/>
        </p:nvSpPr>
        <p:spPr>
          <a:xfrm>
            <a:off x="903208" y="6942493"/>
            <a:ext cx="9272909" cy="502256"/>
          </a:xfrm>
          <a:prstGeom prst="roundRect">
            <a:avLst>
              <a:gd name="adj" fmla="val 3530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785455" y="624602"/>
            <a:ext cx="1834872" cy="360998"/>
          </a:xfrm>
          <a:prstGeom prst="roundRect">
            <a:avLst>
              <a:gd name="adj" fmla="val 652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03208" y="683419"/>
            <a:ext cx="1599367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02 | DATA FOUNDATION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5455" y="1059180"/>
            <a:ext cx="6802874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Preparing the Data for Modeling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1287" y="2219947"/>
            <a:ext cx="392668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5455" y="2575100"/>
            <a:ext cx="3594497" cy="22860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1287" y="2747353"/>
            <a:ext cx="231017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Noise Reduction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5455" y="3219299"/>
            <a:ext cx="3594497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Removal of sparse and weakly informative columns, such as incomplete contact fields, to reduce overfitting risk and improve signal quality.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21326" y="2219947"/>
            <a:ext cx="392668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83539" y="2581573"/>
            <a:ext cx="3594616" cy="22860"/>
          </a:xfrm>
          <a:prstGeom prst="rect">
            <a:avLst/>
          </a:prstGeom>
          <a:solidFill>
            <a:srgbClr val="018CE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21326" y="2759803"/>
            <a:ext cx="231017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Categorical Encoding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21326" y="3153200"/>
            <a:ext cx="3594616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Text fields such as farm type and season were converted into machine-readable ordinal representations so the pipeline could ingest them consistently.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55160" y="2219947"/>
            <a:ext cx="392668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Nunito Light" pitchFamily="34" charset="-122"/>
                <a:cs typeface="Times New Roman" panose="02020603050405020304" pitchFamily="18" charset="0"/>
              </a:rPr>
              <a:t>03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755160" y="2566826"/>
            <a:ext cx="4195765" cy="45719"/>
          </a:xfrm>
          <a:prstGeom prst="rect">
            <a:avLst/>
          </a:prstGeom>
          <a:solidFill>
            <a:srgbClr val="DA33B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55160" y="2763880"/>
            <a:ext cx="231017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Risk Multipliers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57316" y="3153200"/>
            <a:ext cx="3934160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Engineered eight domain-led features, including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to capture, compound transmission conditions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rather than isolated variables.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the engineered variables 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BE4EC6-488C-597F-CB3C-878F8086DC8E}"/>
              </a:ext>
            </a:extLst>
          </p:cNvPr>
          <p:cNvSpPr txBox="1"/>
          <p:nvPr/>
        </p:nvSpPr>
        <p:spPr>
          <a:xfrm>
            <a:off x="8657316" y="4495071"/>
            <a:ext cx="35944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Farm_Pos_Rate_Historical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Avg_Rainfall_3M_Prior_MM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Rainfall_Temp_Interaction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Climate_Stress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Wildlife_Pressure_Index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Farm_History_Risk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Season_Num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Animal_Age_Months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0A29A7-7132-6C7E-4F25-BF8101696733}"/>
              </a:ext>
            </a:extLst>
          </p:cNvPr>
          <p:cNvSpPr txBox="1"/>
          <p:nvPr/>
        </p:nvSpPr>
        <p:spPr>
          <a:xfrm>
            <a:off x="1290197" y="6985754"/>
            <a:ext cx="940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ranked 1, 2, and 8 appear in the top 5 SHAP contributors across all three final models.</a:t>
            </a: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9DFFB5F-0693-C21D-2CB0-06E8756F5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80" y="7090445"/>
            <a:ext cx="261818" cy="20943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339CB6-D249-1BEA-F4C3-E2482767D1CE}"/>
              </a:ext>
            </a:extLst>
          </p:cNvPr>
          <p:cNvCxnSpPr/>
          <p:nvPr/>
        </p:nvCxnSpPr>
        <p:spPr>
          <a:xfrm>
            <a:off x="785455" y="1636752"/>
            <a:ext cx="6529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35079"/>
            <a:ext cx="2040017" cy="393502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3335" y="697825"/>
            <a:ext cx="1788795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03 | THREAT LANDSCAPE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1112282"/>
            <a:ext cx="734544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Where is the Risk Concentrated?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7664" y="1756022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Risk is not evenly distributed across operations. The pattern intensifies where herd density, routine animal movement, and constrained handling environments combine to create repeated contact opportunities.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7664" y="261748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The Scale Penalty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7664" y="2933276"/>
            <a:ext cx="414373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Larger herds naturally increase transmission pathways, making containment harder once exposure occurs.</a:t>
            </a:r>
          </a:p>
        </p:txBody>
      </p:sp>
      <p:sp>
        <p:nvSpPr>
          <p:cNvPr id="10" name="Text 6"/>
          <p:cNvSpPr/>
          <p:nvPr/>
        </p:nvSpPr>
        <p:spPr>
          <a:xfrm>
            <a:off x="808266" y="459922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Intensive Operations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05875" y="4969983"/>
            <a:ext cx="414373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Dairy systems show a 14.8% positive rate, substantially above extensive beef systems at 8.1%, reflecting repeated daily bottlenecks.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30B6C805-B8FA-1866-6F5C-1D03A5C33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35" y="2426106"/>
            <a:ext cx="7315200" cy="45720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C36934-1C6E-B9C6-299B-5D2F1B9A1A3F}"/>
              </a:ext>
            </a:extLst>
          </p:cNvPr>
          <p:cNvCxnSpPr/>
          <p:nvPr/>
        </p:nvCxnSpPr>
        <p:spPr>
          <a:xfrm>
            <a:off x="805875" y="1728192"/>
            <a:ext cx="66397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4">
            <a:extLst>
              <a:ext uri="{FF2B5EF4-FFF2-40B4-BE49-F238E27FC236}">
                <a16:creationId xmlns:a16="http://schemas.microsoft.com/office/drawing/2014/main" id="{002B8603-FF04-1B51-7F53-0B967C27C6EB}"/>
              </a:ext>
            </a:extLst>
          </p:cNvPr>
          <p:cNvSpPr/>
          <p:nvPr/>
        </p:nvSpPr>
        <p:spPr>
          <a:xfrm>
            <a:off x="681664" y="6071289"/>
            <a:ext cx="4371498" cy="1532289"/>
          </a:xfrm>
          <a:prstGeom prst="roundRect">
            <a:avLst>
              <a:gd name="adj" fmla="val 1403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6D16B7DD-6A77-4483-7236-4A4EF67ADD82}"/>
              </a:ext>
            </a:extLst>
          </p:cNvPr>
          <p:cNvSpPr/>
          <p:nvPr/>
        </p:nvSpPr>
        <p:spPr>
          <a:xfrm>
            <a:off x="681604" y="4345079"/>
            <a:ext cx="4371498" cy="1699089"/>
          </a:xfrm>
          <a:prstGeom prst="roundRect">
            <a:avLst>
              <a:gd name="adj" fmla="val 1403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835009" y="809288"/>
            <a:ext cx="2494836" cy="393502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0620" y="872034"/>
            <a:ext cx="224361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04 | ENVIRONMENTAL SIGNALS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5009" y="1327162"/>
            <a:ext cx="848451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When Does Wildlife Impact Us Most?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6090" y="197637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Environmental exposure is persistent, but it is not static. The model indicates that wildlife density, seasonality, and weather volatility interact to create sharp changes in vulnerability across the year.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8839" y="2748796"/>
            <a:ext cx="4371498" cy="1569162"/>
          </a:xfrm>
          <a:prstGeom prst="roundRect">
            <a:avLst>
              <a:gd name="adj" fmla="val 1403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4883" y="280033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Baseline Penalty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620" y="3144592"/>
            <a:ext cx="3884176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High diseased wildlife density materially elevates farm risk: 21.1% positivity in high-density areas versus 2.8% in low-density areas.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620" y="446701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Bimodal Seasonality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5325" y="4704001"/>
            <a:ext cx="3884176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Risk peaks in February at 11.8%, then rises again in April and July at 11.7%, challenging the assumption that winter is the only critical period.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5206" y="621866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Weather Sensitivity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5206" y="6553800"/>
            <a:ext cx="388429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Extreme rainfall and temperature deviations were repeatedly flagged by the algorithm as important outbreak triggers.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6F4F3D72-5496-8A8D-26C9-8F8FA8987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879" y="2523914"/>
            <a:ext cx="8455228" cy="456581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49706A-E778-402D-7E00-A36C941DF66F}"/>
              </a:ext>
            </a:extLst>
          </p:cNvPr>
          <p:cNvCxnSpPr/>
          <p:nvPr/>
        </p:nvCxnSpPr>
        <p:spPr>
          <a:xfrm>
            <a:off x="835009" y="1943072"/>
            <a:ext cx="7851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6987" y="446127"/>
            <a:ext cx="1119307" cy="262890"/>
          </a:xfrm>
          <a:prstGeom prst="roundRect">
            <a:avLst>
              <a:gd name="adj" fmla="val 70214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99260" y="492204"/>
            <a:ext cx="934760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05 | SPATIAL RISK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06987" y="754142"/>
            <a:ext cx="5418534" cy="45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Mapping the Transmission Zones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06987" y="1376005"/>
            <a:ext cx="1141630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Geography matters because transmission follows proximity, movement, and environmental adjacency. Outbreaks do not appear as random isolated points; they cluster into actionable local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213094" y="2056805"/>
            <a:ext cx="45720" cy="811530"/>
          </a:xfrm>
          <a:prstGeom prst="rect">
            <a:avLst/>
          </a:prstGeom>
          <a:solidFill>
            <a:srgbClr val="2D4DF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73910" y="2056805"/>
            <a:ext cx="209323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Highly Localised Clusters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73910" y="2395895"/>
            <a:ext cx="555688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Dense pockets indicate that neighbouring farms may share exposure pathways, either directly or through shared environmental pressures.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 flipH="1">
            <a:off x="7215287" y="3555110"/>
            <a:ext cx="45719" cy="1079520"/>
          </a:xfrm>
          <a:prstGeom prst="rect">
            <a:avLst/>
          </a:prstGeom>
          <a:solidFill>
            <a:srgbClr val="018CE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73910" y="3569176"/>
            <a:ext cx="180963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Spillover Visibility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73910" y="3880126"/>
            <a:ext cx="555688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Pinpointing coordinates helps expose transmission corridors between properties, improving how field teams target follow-up testing and containment zones.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235954" y="5574625"/>
            <a:ext cx="45720" cy="811530"/>
          </a:xfrm>
          <a:prstGeom prst="rect">
            <a:avLst/>
          </a:prstGeom>
          <a:solidFill>
            <a:srgbClr val="DA33B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73910" y="5548234"/>
            <a:ext cx="180963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Operational Value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73910" y="5959435"/>
            <a:ext cx="555688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Spatial intelligence supports route planning, area-based interventions, and more defensible prioritisation of scarce veterinary resources.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3242635F-BF42-378A-F703-39935F00E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71" y="1796573"/>
            <a:ext cx="5800250" cy="58002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8D93DF-3FD0-9F6E-97A0-85D789AD9EEB}"/>
              </a:ext>
            </a:extLst>
          </p:cNvPr>
          <p:cNvCxnSpPr/>
          <p:nvPr/>
        </p:nvCxnSpPr>
        <p:spPr>
          <a:xfrm>
            <a:off x="1606987" y="1206580"/>
            <a:ext cx="56061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790932"/>
            <a:ext cx="2276237" cy="393502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3335" y="853678"/>
            <a:ext cx="2025015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06 | MODELLING APPROACH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1268135"/>
            <a:ext cx="988373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Building a Stable Machine Learning Pipeline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7724" y="2198132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The objective was not just high performance, but dependable performance. For a risk engine to be trusted operationally, it must behave consistently across different subsets of the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7724" y="3103840"/>
            <a:ext cx="4178618" cy="3209330"/>
          </a:xfrm>
          <a:prstGeom prst="roundRect">
            <a:avLst>
              <a:gd name="adj" fmla="val 9790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0584" y="3126700"/>
            <a:ext cx="4132898" cy="628293"/>
          </a:xfrm>
          <a:prstGeom prst="roundRect">
            <a:avLst>
              <a:gd name="adj" fmla="val 45640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69989" y="3233023"/>
            <a:ext cx="314087" cy="39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1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0015" y="396442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Algorithm Choice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014" y="4305673"/>
            <a:ext cx="3726574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 err="1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LightGBM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gradient boosting for execution speed, strong tabular-data performance, and native handling of class imbalance through </a:t>
            </a: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scale_pos_weight = 8.26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. After </a:t>
            </a:r>
            <a:r>
              <a:rPr lang="en-US" sz="1600" dirty="0" err="1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comaprisons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with other tree based and regression-based models.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25772" y="3103840"/>
            <a:ext cx="4178737" cy="3209330"/>
          </a:xfrm>
          <a:prstGeom prst="roundRect">
            <a:avLst>
              <a:gd name="adj" fmla="val 9790"/>
            </a:avLst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48632" y="3126700"/>
            <a:ext cx="4133017" cy="628293"/>
          </a:xfrm>
          <a:prstGeom prst="roundRect">
            <a:avLst>
              <a:gd name="adj" fmla="val 45640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58038" y="3233023"/>
            <a:ext cx="314087" cy="39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2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58063" y="396442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Validation Design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58063" y="4398050"/>
            <a:ext cx="371415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Using 5-fold stratified cross-validation, the model achieved ROC-AUC of 0.7861 with a variance of only ± 0.0071.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13940" y="3103840"/>
            <a:ext cx="4178737" cy="3209330"/>
          </a:xfrm>
          <a:prstGeom prst="roundRect">
            <a:avLst>
              <a:gd name="adj" fmla="val 9790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36800" y="3126700"/>
            <a:ext cx="4133017" cy="628293"/>
          </a:xfrm>
          <a:prstGeom prst="roundRect">
            <a:avLst>
              <a:gd name="adj" fmla="val 45640"/>
            </a:avLst>
          </a:prstGeom>
          <a:solidFill>
            <a:srgbClr val="F3F3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546205" y="3233023"/>
            <a:ext cx="314087" cy="39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3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46231" y="396442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Why It Matters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46231" y="4398050"/>
            <a:ext cx="371415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That tight spread indicates the model is robust across folds rather than benefiting from a single favourable train-test split.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37724" y="6723936"/>
            <a:ext cx="8799076" cy="494944"/>
          </a:xfrm>
          <a:prstGeom prst="roundRect">
            <a:avLst>
              <a:gd name="adj" fmla="val 3530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55" y="6863358"/>
            <a:ext cx="261818" cy="20943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18405" y="6810494"/>
            <a:ext cx="809553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Low variance is a trust signal: the pipeline is stable enough to support repeatable decision-making.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A9CAF2-AC2E-A8D4-3743-5F34B0F03C4D}"/>
              </a:ext>
            </a:extLst>
          </p:cNvPr>
          <p:cNvCxnSpPr/>
          <p:nvPr/>
        </p:nvCxnSpPr>
        <p:spPr>
          <a:xfrm>
            <a:off x="837724" y="1884045"/>
            <a:ext cx="9491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198" y="275774"/>
            <a:ext cx="1331388" cy="272398"/>
          </a:xfrm>
          <a:prstGeom prst="roundRect">
            <a:avLst>
              <a:gd name="adj" fmla="val 71496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7838" y="338361"/>
            <a:ext cx="972979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07 | PERFORMANCE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5198" y="707112"/>
            <a:ext cx="3817858" cy="42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Final Test Set Evaluation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77885FBD-3ED9-8E57-5F83-ED5BF81E1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601" y="1412086"/>
            <a:ext cx="7772400" cy="61068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A1B3145-9579-DBE5-7C03-4E9363008CA3}"/>
              </a:ext>
            </a:extLst>
          </p:cNvPr>
          <p:cNvSpPr txBox="1"/>
          <p:nvPr/>
        </p:nvSpPr>
        <p:spPr>
          <a:xfrm>
            <a:off x="635198" y="1289557"/>
            <a:ext cx="5505099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overall performance (AUC) (from Logistic Regression(0.76),  Random Forest(0.80)) across all evaluation metrics on the held-out test set (20% stratified split, 2,000 records):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91.3%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correctly classified 1,826 of 2,000 test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AUC: 0.836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strong discrimination between positive and negative TB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(Positive class): 44.8%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of all farms flagged as high risk, 1 in 5 were true positives; this reflects the 10.8% base rate and is acceptable in a screening context where recall is prioritised.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(Positive class): 95.8%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for 0.15 threshold the model identifies nearly half of all true TB-positive animals, substantially reducing missed cases vs. random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54.3%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harmonic mean balancing precision and recall on the minority class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note: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Lowering the classification threshold from 0.5 to 0.35 increases Recall to 61.4% at the cost of Precision dropping to 16.2%, which may be preferable in a public health screening deployment where missing a positive case carries higher cost than a false alarm.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60E2CF-732E-81D5-4005-43DBD825589F}"/>
              </a:ext>
            </a:extLst>
          </p:cNvPr>
          <p:cNvCxnSpPr/>
          <p:nvPr/>
        </p:nvCxnSpPr>
        <p:spPr>
          <a:xfrm>
            <a:off x="635198" y="1130617"/>
            <a:ext cx="58164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 Diagonal Corner of Rectangle 21">
            <a:extLst>
              <a:ext uri="{FF2B5EF4-FFF2-40B4-BE49-F238E27FC236}">
                <a16:creationId xmlns:a16="http://schemas.microsoft.com/office/drawing/2014/main" id="{E87EDABF-2F44-B09E-1B4D-E85E54BB08BD}"/>
              </a:ext>
            </a:extLst>
          </p:cNvPr>
          <p:cNvSpPr/>
          <p:nvPr/>
        </p:nvSpPr>
        <p:spPr>
          <a:xfrm>
            <a:off x="530352" y="4526280"/>
            <a:ext cx="6309360" cy="1371600"/>
          </a:xfrm>
          <a:prstGeom prst="round2Diag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 Diagonal Corner of Rectangle 20">
            <a:extLst>
              <a:ext uri="{FF2B5EF4-FFF2-40B4-BE49-F238E27FC236}">
                <a16:creationId xmlns:a16="http://schemas.microsoft.com/office/drawing/2014/main" id="{C961C1A0-2417-B5E3-54B9-19E66309A22D}"/>
              </a:ext>
            </a:extLst>
          </p:cNvPr>
          <p:cNvSpPr/>
          <p:nvPr/>
        </p:nvSpPr>
        <p:spPr>
          <a:xfrm>
            <a:off x="530352" y="5989320"/>
            <a:ext cx="6309360" cy="1554480"/>
          </a:xfrm>
          <a:prstGeom prst="round2DiagRect">
            <a:avLst/>
          </a:prstGeom>
          <a:solidFill>
            <a:schemeClr val="accent1">
              <a:alpha val="4987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 Diagonal Corner of Rectangle 19">
            <a:extLst>
              <a:ext uri="{FF2B5EF4-FFF2-40B4-BE49-F238E27FC236}">
                <a16:creationId xmlns:a16="http://schemas.microsoft.com/office/drawing/2014/main" id="{9715F728-BB49-7B7A-895B-42E85E4CAB27}"/>
              </a:ext>
            </a:extLst>
          </p:cNvPr>
          <p:cNvSpPr/>
          <p:nvPr/>
        </p:nvSpPr>
        <p:spPr>
          <a:xfrm>
            <a:off x="530352" y="3063240"/>
            <a:ext cx="6309360" cy="1371600"/>
          </a:xfrm>
          <a:prstGeom prst="round2DiagRect">
            <a:avLst/>
          </a:prstGeom>
          <a:solidFill>
            <a:schemeClr val="accent1">
              <a:alpha val="4982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712114" y="514131"/>
            <a:ext cx="2031086" cy="393502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8186" y="568424"/>
            <a:ext cx="168509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08 | INTERPRETABILITY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051560"/>
            <a:ext cx="658368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What Actually Drives the Risk? 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2114" y="1988611"/>
            <a:ext cx="6477476" cy="101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Interpretability is critical because veterinary leaders need to know whether the model is identifying plausible disease signals or simply exploiting statistical artefacts. The explanation outputs were aligned with domain expectations.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" y="3127248"/>
            <a:ext cx="29260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The Track Record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3232" y="3474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Farm_Pos_Rate_Historical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emerged as the strongest warning signal, confirming that prior positives are a major predictor of future risk.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13232" y="6053328"/>
            <a:ext cx="29260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Climate &amp; Weather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3232" y="6400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Rainfall and the engineered </a:t>
            </a: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Climate_Stress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feature dominated many tree splits, showing that environmental stress materially changes outbreak likelihood.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13232" y="4590288"/>
            <a:ext cx="29260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Wildlife Intersection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13232" y="4937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Risk compounds when farms sit near high-density wildlife areas with known diseased setts, especially where biosecurity scores are weak.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graph with colorful lines&#10;&#10;AI-generated content may be incorrect.">
            <a:extLst>
              <a:ext uri="{FF2B5EF4-FFF2-40B4-BE49-F238E27FC236}">
                <a16:creationId xmlns:a16="http://schemas.microsoft.com/office/drawing/2014/main" id="{89474518-2736-E565-F36D-16D184D2E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590" y="548640"/>
            <a:ext cx="4937760" cy="7132320"/>
          </a:xfrm>
          <a:prstGeom prst="rect">
            <a:avLst/>
          </a:prstGeom>
        </p:spPr>
      </p:pic>
      <p:pic>
        <p:nvPicPr>
          <p:cNvPr id="27" name="Picture 26" descr="A diagram of cattle disease drivers&#10;&#10;AI-generated content may be incorrect.">
            <a:extLst>
              <a:ext uri="{FF2B5EF4-FFF2-40B4-BE49-F238E27FC236}">
                <a16:creationId xmlns:a16="http://schemas.microsoft.com/office/drawing/2014/main" id="{3F2010E4-9FDC-EFD6-DF4C-CF9F1E6F5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8686800"/>
            <a:ext cx="2743200" cy="1371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B2CC83-8887-9333-8C50-083857AAFA62}"/>
              </a:ext>
            </a:extLst>
          </p:cNvPr>
          <p:cNvCxnSpPr/>
          <p:nvPr/>
        </p:nvCxnSpPr>
        <p:spPr>
          <a:xfrm>
            <a:off x="712114" y="1737360"/>
            <a:ext cx="66030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8487D-1379-28C5-BBD7-D9019192FAE3}"/>
              </a:ext>
            </a:extLst>
          </p:cNvPr>
          <p:cNvSpPr txBox="1"/>
          <p:nvPr/>
        </p:nvSpPr>
        <p:spPr>
          <a:xfrm>
            <a:off x="1027134" y="513567"/>
            <a:ext cx="6773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RECOMMENDATIONS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05B9C-FED8-94EA-1228-2100B0588A5C}"/>
              </a:ext>
            </a:extLst>
          </p:cNvPr>
          <p:cNvSpPr txBox="1"/>
          <p:nvPr/>
        </p:nvSpPr>
        <p:spPr>
          <a:xfrm>
            <a:off x="1027134" y="1113731"/>
            <a:ext cx="109033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strongest classifier (AUC 0.836, F1 54.3%) for TB-positive farm identification,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outperforming Logistic Regression baseline by 7.5 AUC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most predictive features are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Risk_Score_Composite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Herd_Density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Movement_Biosecurity_Ratio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— all engineered variables, validating the feature engineering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(10.8% positive rate) is the primary modelling challenge; SMOTE oversampling on the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training fold improved minority-class recall by ~9 percentage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is confined to non-analytical contact fields; no imputation was required for any modelling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08227-B482-A82F-0BCF-49BBC06873DA}"/>
              </a:ext>
            </a:extLst>
          </p:cNvPr>
          <p:cNvSpPr txBox="1"/>
          <p:nvPr/>
        </p:nvSpPr>
        <p:spPr>
          <a:xfrm>
            <a:off x="1027134" y="4198111"/>
            <a:ext cx="732146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farm-level risk screening tool.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Apply a decision threshold of 0.35 to maximise recall (61.4%) for priority inspection targeting. Retrain quarterly on rolling 3-month data windows as new test results are added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EF880C-2221-AA61-C488-1384C72A7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895866"/>
              </p:ext>
            </p:extLst>
          </p:nvPr>
        </p:nvGraphicFramePr>
        <p:xfrm>
          <a:off x="998153" y="6257558"/>
          <a:ext cx="9850722" cy="1524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{9DCAF9ED-07DC-4A11-8D7F-57B35C25682E}</a:tableStyleId>
              </a:tblPr>
              <a:tblGrid>
                <a:gridCol w="3283574">
                  <a:extLst>
                    <a:ext uri="{9D8B030D-6E8A-4147-A177-3AD203B41FA5}">
                      <a16:colId xmlns:a16="http://schemas.microsoft.com/office/drawing/2014/main" val="3935577883"/>
                    </a:ext>
                  </a:extLst>
                </a:gridCol>
                <a:gridCol w="3283574">
                  <a:extLst>
                    <a:ext uri="{9D8B030D-6E8A-4147-A177-3AD203B41FA5}">
                      <a16:colId xmlns:a16="http://schemas.microsoft.com/office/drawing/2014/main" val="1690278365"/>
                    </a:ext>
                  </a:extLst>
                </a:gridCol>
                <a:gridCol w="3283574">
                  <a:extLst>
                    <a:ext uri="{9D8B030D-6E8A-4147-A177-3AD203B41FA5}">
                      <a16:colId xmlns:a16="http://schemas.microsoft.com/office/drawing/2014/main" val="1414702475"/>
                    </a:ext>
                  </a:extLst>
                </a:gridCol>
              </a:tblGrid>
              <a:tr h="250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Reduction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 Welfare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Efficiency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216570066"/>
                  </a:ext>
                </a:extLst>
              </a:tr>
              <a:tr h="11058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Prioritising the top 20% highest-risk farms by score captures ~47% of all positive cases, reducing unnecessary testing across low-risk herds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Earlier detection limits intra-herd spread, reducing culling numbers per outbreak event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Farm inspectors receive a ranked risk list each quarter rather than relying solely on scheduled testing cycles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20679793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3CF8CF-4B15-F56C-8E4F-82F4C255AF2C}"/>
              </a:ext>
            </a:extLst>
          </p:cNvPr>
          <p:cNvCxnSpPr/>
          <p:nvPr/>
        </p:nvCxnSpPr>
        <p:spPr>
          <a:xfrm>
            <a:off x="1027134" y="1036787"/>
            <a:ext cx="76935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457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4324" y="400407"/>
            <a:ext cx="851297" cy="228124"/>
          </a:xfrm>
          <a:prstGeom prst="roundRect">
            <a:avLst>
              <a:gd name="adj" fmla="val 72307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96716" y="441603"/>
            <a:ext cx="686514" cy="145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09 | ROADMAP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14324" y="672227"/>
            <a:ext cx="3234214" cy="40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Evolving the Pipeline (Next Steps)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14324" y="1211699"/>
            <a:ext cx="10201751" cy="36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The current model is production-promising, but several upgrades can materially improve precision, operational usability, and confidence in the probability outputs delivered to field teams.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214324" y="6835854"/>
            <a:ext cx="8345118" cy="36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Prioritize spatial risk zones and rolling temporal features first, because they strengthen field deployment logic as well as model performance. Optimisation and ensembling should follow once those signals are embedded.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323D59-3D4B-E415-3FE7-4BF19A629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528793"/>
              </p:ext>
            </p:extLst>
          </p:nvPr>
        </p:nvGraphicFramePr>
        <p:xfrm>
          <a:off x="2296716" y="1867613"/>
          <a:ext cx="7498638" cy="465772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{72833802-FEF1-4C79-8D5D-14CF1EAF98D9}</a:tableStyleId>
              </a:tblPr>
              <a:tblGrid>
                <a:gridCol w="2499546">
                  <a:extLst>
                    <a:ext uri="{9D8B030D-6E8A-4147-A177-3AD203B41FA5}">
                      <a16:colId xmlns:a16="http://schemas.microsoft.com/office/drawing/2014/main" val="2899558651"/>
                    </a:ext>
                  </a:extLst>
                </a:gridCol>
                <a:gridCol w="2499546">
                  <a:extLst>
                    <a:ext uri="{9D8B030D-6E8A-4147-A177-3AD203B41FA5}">
                      <a16:colId xmlns:a16="http://schemas.microsoft.com/office/drawing/2014/main" val="3311883881"/>
                    </a:ext>
                  </a:extLst>
                </a:gridCol>
                <a:gridCol w="2499546">
                  <a:extLst>
                    <a:ext uri="{9D8B030D-6E8A-4147-A177-3AD203B41FA5}">
                      <a16:colId xmlns:a16="http://schemas.microsoft.com/office/drawing/2014/main" val="2965746571"/>
                    </a:ext>
                  </a:extLst>
                </a:gridCol>
              </a:tblGrid>
              <a:tr h="2931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dirty="0">
                          <a:effectLst/>
                        </a:rPr>
                        <a:t>Stage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Label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Description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1607547729"/>
                  </a:ext>
                </a:extLst>
              </a:tr>
              <a:tr h="694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Phase 1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Data Collection &amp; Cleaning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Handle missing values, encode categoricals, validate date ranges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834863110"/>
                  </a:ext>
                </a:extLst>
              </a:tr>
              <a:tr h="694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Phase 2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dirty="0">
                          <a:effectLst/>
                        </a:rPr>
                        <a:t>Feature Engineering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Derive 8 new risk features; normalise continuous variables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2692615651"/>
                  </a:ext>
                </a:extLst>
              </a:tr>
              <a:tr h="8944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Phase 3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Model Training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Train/test split 80/20 stratified; 5-fold stratified cross-validation on training set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748435658"/>
                  </a:ext>
                </a:extLst>
              </a:tr>
              <a:tr h="694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Phase 4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Hyperparameter Tuning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GridSearchCV for Random Forest; BayesSearchCV for LightGBM and CatBoost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4020809267"/>
                  </a:ext>
                </a:extLst>
              </a:tr>
              <a:tr h="493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Phase 5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Evaluation &amp; Interpretation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AUC, F1, Precision/Recall; SHAP feature importance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3648984689"/>
                  </a:ext>
                </a:extLst>
              </a:tr>
              <a:tr h="8944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Phase 6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effectLst/>
                        </a:rPr>
                        <a:t>Deployment Recommendation</a:t>
                      </a:r>
                    </a:p>
                  </a:txBody>
                  <a:tcPr marL="46392" marR="46392" marT="46392" marB="4639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dirty="0">
                          <a:effectLst/>
                        </a:rPr>
                        <a:t>Risk-score dashboard; rolling 3-month prediction window for farm inspectors</a:t>
                      </a:r>
                    </a:p>
                  </a:txBody>
                  <a:tcPr marL="46392" marR="46392" marT="46392" marB="46392" anchor="ctr"/>
                </a:tc>
                <a:extLst>
                  <a:ext uri="{0D108BD9-81ED-4DB2-BD59-A6C34878D82A}">
                    <a16:rowId xmlns:a16="http://schemas.microsoft.com/office/drawing/2014/main" val="2317479201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223663-9759-3A6B-F9E6-37206E9A1829}"/>
              </a:ext>
            </a:extLst>
          </p:cNvPr>
          <p:cNvCxnSpPr>
            <a:cxnSpLocks/>
          </p:cNvCxnSpPr>
          <p:nvPr/>
        </p:nvCxnSpPr>
        <p:spPr>
          <a:xfrm>
            <a:off x="2214324" y="1076444"/>
            <a:ext cx="5490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1369</TotalTime>
  <Words>1631</Words>
  <Application>Microsoft Macintosh PowerPoint</Application>
  <PresentationFormat>Custom</PresentationFormat>
  <Paragraphs>179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Wingdings 3</vt:lpstr>
      <vt:lpstr>Times New Roman</vt:lpstr>
      <vt:lpstr>Trebuchet MS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Utkarsh Awasthi</cp:lastModifiedBy>
  <cp:revision>18</cp:revision>
  <dcterms:created xsi:type="dcterms:W3CDTF">2026-04-14T20:18:15Z</dcterms:created>
  <dcterms:modified xsi:type="dcterms:W3CDTF">2026-04-15T19:12:05Z</dcterms:modified>
</cp:coreProperties>
</file>